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9753600" cy="7315200"/>
  <p:notesSz cx="6858000" cy="9144000"/>
  <p:embeddedFontLst>
    <p:embeddedFont>
      <p:font typeface="Calibri (MS)" charset="1" panose="020F0502020204030204"/>
      <p:regular r:id="rId7"/>
    </p:embeddedFont>
    <p:embeddedFont>
      <p:font typeface="Calibri (MS) Bold" charset="1" panose="020F0702030404030204"/>
      <p:regular r:id="rId8"/>
    </p:embeddedFont>
    <p:embeddedFont>
      <p:font typeface="Cambria Bold" charset="1" panose="02040803050406030204"/>
      <p:regular r:id="rId9"/>
    </p:embeddedFont>
    <p:embeddedFont>
      <p:font typeface="Cambria" charset="1" panose="0204050305040603020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https://sdgs.un.org/goals" TargetMode="External" Type="http://schemas.openxmlformats.org/officeDocument/2006/relationships/hyperlink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8436" y="194710"/>
            <a:ext cx="448200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828" spc="-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PROJECT NAME:</a:t>
            </a:r>
            <a:r>
              <a:rPr lang="en-US" b="true" sz="1828" spc="-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FLYCOM</a:t>
            </a:r>
          </a:p>
          <a:p>
            <a:pPr algn="l">
              <a:lnSpc>
                <a:spcPts val="2194"/>
              </a:lnSpc>
            </a:pPr>
            <a:r>
              <a:rPr lang="en-US" sz="1828" spc="-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TEAM MEMBERS:</a:t>
            </a:r>
            <a:r>
              <a:rPr lang="en-US" b="true" sz="1828" spc="-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POSTEUCA ANDREI-NICOLAE</a:t>
            </a:r>
          </a:p>
          <a:p>
            <a:pPr algn="l">
              <a:lnSpc>
                <a:spcPts val="2194"/>
              </a:lnSpc>
            </a:pPr>
            <a:r>
              <a:rPr lang="en-US" b="true" sz="1828" spc="-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LOZNEANU ANDI-FINEAS ,ALEXA TEODOR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74825" y="1829914"/>
            <a:ext cx="9024499" cy="422853"/>
          </a:xfrm>
          <a:custGeom>
            <a:avLst/>
            <a:gdLst/>
            <a:ahLst/>
            <a:cxnLst/>
            <a:rect r="r" b="b" t="t" l="l"/>
            <a:pathLst>
              <a:path h="422853" w="9024499">
                <a:moveTo>
                  <a:pt x="0" y="0"/>
                </a:moveTo>
                <a:lnTo>
                  <a:pt x="9024499" y="0"/>
                </a:lnTo>
                <a:lnTo>
                  <a:pt x="9024499" y="422853"/>
                </a:lnTo>
                <a:lnTo>
                  <a:pt x="0" y="4228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2777" y="2317071"/>
            <a:ext cx="4511526" cy="2377440"/>
          </a:xfrm>
          <a:custGeom>
            <a:avLst/>
            <a:gdLst/>
            <a:ahLst/>
            <a:cxnLst/>
            <a:rect r="r" b="b" t="t" l="l"/>
            <a:pathLst>
              <a:path h="2377440" w="4511526">
                <a:moveTo>
                  <a:pt x="0" y="0"/>
                </a:moveTo>
                <a:lnTo>
                  <a:pt x="4511526" y="0"/>
                </a:lnTo>
                <a:lnTo>
                  <a:pt x="4511526" y="2377440"/>
                </a:lnTo>
                <a:lnTo>
                  <a:pt x="0" y="23774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8090" y="4272829"/>
            <a:ext cx="2087156" cy="32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828" spc="-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3. SMART OBJECTIVES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266608" y="4275058"/>
            <a:ext cx="2988488" cy="422853"/>
            <a:chOff x="0" y="0"/>
            <a:chExt cx="3984650" cy="5638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84117" cy="563753"/>
            </a:xfrm>
            <a:custGeom>
              <a:avLst/>
              <a:gdLst/>
              <a:ahLst/>
              <a:cxnLst/>
              <a:rect r="r" b="b" t="t" l="l"/>
              <a:pathLst>
                <a:path h="563753" w="3984117">
                  <a:moveTo>
                    <a:pt x="12954" y="0"/>
                  </a:moveTo>
                  <a:lnTo>
                    <a:pt x="3971163" y="0"/>
                  </a:lnTo>
                  <a:cubicBezTo>
                    <a:pt x="3978275" y="0"/>
                    <a:pt x="3984117" y="5715"/>
                    <a:pt x="3984117" y="12954"/>
                  </a:cubicBezTo>
                  <a:lnTo>
                    <a:pt x="3984117" y="550799"/>
                  </a:lnTo>
                  <a:cubicBezTo>
                    <a:pt x="3984117" y="557911"/>
                    <a:pt x="3978402" y="563753"/>
                    <a:pt x="3971163" y="563753"/>
                  </a:cubicBezTo>
                  <a:lnTo>
                    <a:pt x="12954" y="563753"/>
                  </a:lnTo>
                  <a:cubicBezTo>
                    <a:pt x="5715" y="563753"/>
                    <a:pt x="0" y="557911"/>
                    <a:pt x="0" y="550799"/>
                  </a:cubicBezTo>
                  <a:lnTo>
                    <a:pt x="0" y="12954"/>
                  </a:lnTo>
                  <a:cubicBezTo>
                    <a:pt x="0" y="5715"/>
                    <a:pt x="5715" y="0"/>
                    <a:pt x="12954" y="0"/>
                  </a:cubicBezTo>
                  <a:moveTo>
                    <a:pt x="12954" y="25781"/>
                  </a:moveTo>
                  <a:lnTo>
                    <a:pt x="12954" y="12954"/>
                  </a:lnTo>
                  <a:lnTo>
                    <a:pt x="25781" y="12954"/>
                  </a:lnTo>
                  <a:lnTo>
                    <a:pt x="25781" y="550799"/>
                  </a:lnTo>
                  <a:lnTo>
                    <a:pt x="12954" y="550799"/>
                  </a:lnTo>
                  <a:lnTo>
                    <a:pt x="12954" y="537845"/>
                  </a:lnTo>
                  <a:lnTo>
                    <a:pt x="3971163" y="537845"/>
                  </a:lnTo>
                  <a:lnTo>
                    <a:pt x="3971163" y="550799"/>
                  </a:lnTo>
                  <a:lnTo>
                    <a:pt x="3958209" y="550799"/>
                  </a:lnTo>
                  <a:lnTo>
                    <a:pt x="3958209" y="12954"/>
                  </a:lnTo>
                  <a:lnTo>
                    <a:pt x="3971163" y="12954"/>
                  </a:lnTo>
                  <a:lnTo>
                    <a:pt x="3971163" y="25781"/>
                  </a:lnTo>
                  <a:lnTo>
                    <a:pt x="12954" y="25781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3331921" y="4269400"/>
            <a:ext cx="789575" cy="32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828" spc="-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4. PRICE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754" y="4759700"/>
            <a:ext cx="2988488" cy="2391470"/>
            <a:chOff x="0" y="0"/>
            <a:chExt cx="3984650" cy="31886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84752" cy="3188716"/>
            </a:xfrm>
            <a:custGeom>
              <a:avLst/>
              <a:gdLst/>
              <a:ahLst/>
              <a:cxnLst/>
              <a:rect r="r" b="b" t="t" l="l"/>
              <a:pathLst>
                <a:path h="3188716" w="3984752">
                  <a:moveTo>
                    <a:pt x="12954" y="0"/>
                  </a:moveTo>
                  <a:lnTo>
                    <a:pt x="3971798" y="0"/>
                  </a:lnTo>
                  <a:cubicBezTo>
                    <a:pt x="3978910" y="0"/>
                    <a:pt x="3984752" y="5715"/>
                    <a:pt x="3984752" y="12954"/>
                  </a:cubicBezTo>
                  <a:lnTo>
                    <a:pt x="3984752" y="3175762"/>
                  </a:lnTo>
                  <a:cubicBezTo>
                    <a:pt x="3984752" y="3182874"/>
                    <a:pt x="3979037" y="3188716"/>
                    <a:pt x="3971798" y="3188716"/>
                  </a:cubicBezTo>
                  <a:lnTo>
                    <a:pt x="12954" y="3188716"/>
                  </a:lnTo>
                  <a:cubicBezTo>
                    <a:pt x="5842" y="3188716"/>
                    <a:pt x="0" y="3183001"/>
                    <a:pt x="0" y="3175762"/>
                  </a:cubicBezTo>
                  <a:lnTo>
                    <a:pt x="0" y="12954"/>
                  </a:lnTo>
                  <a:cubicBezTo>
                    <a:pt x="0" y="5715"/>
                    <a:pt x="5715" y="0"/>
                    <a:pt x="12954" y="0"/>
                  </a:cubicBezTo>
                  <a:moveTo>
                    <a:pt x="12954" y="25781"/>
                  </a:moveTo>
                  <a:lnTo>
                    <a:pt x="12954" y="12954"/>
                  </a:lnTo>
                  <a:lnTo>
                    <a:pt x="25781" y="12954"/>
                  </a:lnTo>
                  <a:lnTo>
                    <a:pt x="25781" y="3175762"/>
                  </a:lnTo>
                  <a:lnTo>
                    <a:pt x="12954" y="3175762"/>
                  </a:lnTo>
                  <a:lnTo>
                    <a:pt x="12954" y="3162808"/>
                  </a:lnTo>
                  <a:lnTo>
                    <a:pt x="3971798" y="3162808"/>
                  </a:lnTo>
                  <a:lnTo>
                    <a:pt x="3971798" y="3175762"/>
                  </a:lnTo>
                  <a:lnTo>
                    <a:pt x="3958844" y="3175762"/>
                  </a:lnTo>
                  <a:lnTo>
                    <a:pt x="3958844" y="12954"/>
                  </a:lnTo>
                  <a:lnTo>
                    <a:pt x="3971798" y="12954"/>
                  </a:lnTo>
                  <a:lnTo>
                    <a:pt x="3971798" y="25781"/>
                  </a:lnTo>
                  <a:lnTo>
                    <a:pt x="12954" y="25781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984650" cy="322672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828"/>
                </a:lnSpc>
              </a:pPr>
              <a:r>
                <a:rPr lang="en-US" sz="1523" spc="-7">
                  <a:solidFill>
                    <a:srgbClr val="59595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Monetization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260440" y="4278487"/>
            <a:ext cx="2988488" cy="416071"/>
            <a:chOff x="0" y="0"/>
            <a:chExt cx="3984650" cy="5547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84117" cy="554609"/>
            </a:xfrm>
            <a:custGeom>
              <a:avLst/>
              <a:gdLst/>
              <a:ahLst/>
              <a:cxnLst/>
              <a:rect r="r" b="b" t="t" l="l"/>
              <a:pathLst>
                <a:path h="554609" w="3984117">
                  <a:moveTo>
                    <a:pt x="12954" y="0"/>
                  </a:moveTo>
                  <a:lnTo>
                    <a:pt x="3971163" y="0"/>
                  </a:lnTo>
                  <a:cubicBezTo>
                    <a:pt x="3978275" y="0"/>
                    <a:pt x="3984117" y="5715"/>
                    <a:pt x="3984117" y="12954"/>
                  </a:cubicBezTo>
                  <a:lnTo>
                    <a:pt x="3984117" y="541655"/>
                  </a:lnTo>
                  <a:cubicBezTo>
                    <a:pt x="3984117" y="548767"/>
                    <a:pt x="3978402" y="554609"/>
                    <a:pt x="3971163" y="554609"/>
                  </a:cubicBezTo>
                  <a:lnTo>
                    <a:pt x="12954" y="554609"/>
                  </a:lnTo>
                  <a:cubicBezTo>
                    <a:pt x="5715" y="554609"/>
                    <a:pt x="0" y="548767"/>
                    <a:pt x="0" y="541655"/>
                  </a:cubicBezTo>
                  <a:lnTo>
                    <a:pt x="0" y="12954"/>
                  </a:lnTo>
                  <a:cubicBezTo>
                    <a:pt x="0" y="5715"/>
                    <a:pt x="5715" y="0"/>
                    <a:pt x="12954" y="0"/>
                  </a:cubicBezTo>
                  <a:moveTo>
                    <a:pt x="12954" y="25781"/>
                  </a:moveTo>
                  <a:lnTo>
                    <a:pt x="12954" y="12954"/>
                  </a:lnTo>
                  <a:lnTo>
                    <a:pt x="25781" y="12954"/>
                  </a:lnTo>
                  <a:lnTo>
                    <a:pt x="25781" y="541655"/>
                  </a:lnTo>
                  <a:lnTo>
                    <a:pt x="12954" y="541655"/>
                  </a:lnTo>
                  <a:lnTo>
                    <a:pt x="12954" y="528701"/>
                  </a:lnTo>
                  <a:lnTo>
                    <a:pt x="3971163" y="528701"/>
                  </a:lnTo>
                  <a:lnTo>
                    <a:pt x="3971163" y="541655"/>
                  </a:lnTo>
                  <a:lnTo>
                    <a:pt x="3958209" y="541655"/>
                  </a:lnTo>
                  <a:lnTo>
                    <a:pt x="3958209" y="12954"/>
                  </a:lnTo>
                  <a:lnTo>
                    <a:pt x="3971163" y="12954"/>
                  </a:lnTo>
                  <a:lnTo>
                    <a:pt x="3971163" y="25781"/>
                  </a:lnTo>
                  <a:lnTo>
                    <a:pt x="12954" y="25781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325753" y="4272829"/>
            <a:ext cx="1451915" cy="32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828" spc="-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5. PROMOTION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35430" y="5201984"/>
            <a:ext cx="176594" cy="232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7"/>
              </a:lnSpc>
            </a:pPr>
            <a:r>
              <a:rPr lang="en-US" sz="1828" spc="-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5.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320399" y="4769463"/>
            <a:ext cx="2969143" cy="2372116"/>
            <a:chOff x="0" y="0"/>
            <a:chExt cx="3958857" cy="31628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58209" cy="3162173"/>
            </a:xfrm>
            <a:custGeom>
              <a:avLst/>
              <a:gdLst/>
              <a:ahLst/>
              <a:cxnLst/>
              <a:rect r="r" b="b" t="t" l="l"/>
              <a:pathLst>
                <a:path h="3162173" w="3958209">
                  <a:moveTo>
                    <a:pt x="3958209" y="3162173"/>
                  </a:moveTo>
                  <a:lnTo>
                    <a:pt x="0" y="3162173"/>
                  </a:lnTo>
                  <a:lnTo>
                    <a:pt x="0" y="0"/>
                  </a:lnTo>
                  <a:lnTo>
                    <a:pt x="3958209" y="0"/>
                  </a:lnTo>
                  <a:lnTo>
                    <a:pt x="3958209" y="316217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310722" y="4759785"/>
            <a:ext cx="2988488" cy="2391470"/>
            <a:chOff x="0" y="0"/>
            <a:chExt cx="3984650" cy="318862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84752" cy="3188716"/>
            </a:xfrm>
            <a:custGeom>
              <a:avLst/>
              <a:gdLst/>
              <a:ahLst/>
              <a:cxnLst/>
              <a:rect r="r" b="b" t="t" l="l"/>
              <a:pathLst>
                <a:path h="3188716" w="3984752">
                  <a:moveTo>
                    <a:pt x="12954" y="0"/>
                  </a:moveTo>
                  <a:lnTo>
                    <a:pt x="3971798" y="0"/>
                  </a:lnTo>
                  <a:cubicBezTo>
                    <a:pt x="3978910" y="0"/>
                    <a:pt x="3984752" y="5715"/>
                    <a:pt x="3984752" y="12954"/>
                  </a:cubicBezTo>
                  <a:lnTo>
                    <a:pt x="3984752" y="3175762"/>
                  </a:lnTo>
                  <a:cubicBezTo>
                    <a:pt x="3984752" y="3182874"/>
                    <a:pt x="3979037" y="3188716"/>
                    <a:pt x="3971798" y="3188716"/>
                  </a:cubicBezTo>
                  <a:lnTo>
                    <a:pt x="12954" y="3188716"/>
                  </a:lnTo>
                  <a:cubicBezTo>
                    <a:pt x="5842" y="3188716"/>
                    <a:pt x="0" y="3183001"/>
                    <a:pt x="0" y="3175762"/>
                  </a:cubicBezTo>
                  <a:lnTo>
                    <a:pt x="0" y="12954"/>
                  </a:lnTo>
                  <a:cubicBezTo>
                    <a:pt x="0" y="5715"/>
                    <a:pt x="5715" y="0"/>
                    <a:pt x="12954" y="0"/>
                  </a:cubicBezTo>
                  <a:moveTo>
                    <a:pt x="12954" y="25781"/>
                  </a:moveTo>
                  <a:lnTo>
                    <a:pt x="12954" y="12954"/>
                  </a:lnTo>
                  <a:lnTo>
                    <a:pt x="25781" y="12954"/>
                  </a:lnTo>
                  <a:lnTo>
                    <a:pt x="25781" y="3175762"/>
                  </a:lnTo>
                  <a:lnTo>
                    <a:pt x="12954" y="3175762"/>
                  </a:lnTo>
                  <a:lnTo>
                    <a:pt x="12954" y="3162808"/>
                  </a:lnTo>
                  <a:lnTo>
                    <a:pt x="3971798" y="3162808"/>
                  </a:lnTo>
                  <a:lnTo>
                    <a:pt x="3971798" y="3175762"/>
                  </a:lnTo>
                  <a:lnTo>
                    <a:pt x="3958844" y="3175762"/>
                  </a:lnTo>
                  <a:lnTo>
                    <a:pt x="3958844" y="12954"/>
                  </a:lnTo>
                  <a:lnTo>
                    <a:pt x="3971798" y="12954"/>
                  </a:lnTo>
                  <a:lnTo>
                    <a:pt x="3971798" y="25781"/>
                  </a:lnTo>
                  <a:lnTo>
                    <a:pt x="12954" y="25781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984650" cy="322672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828"/>
                </a:lnSpc>
              </a:pPr>
              <a:r>
                <a:rPr lang="en-US" sz="1523">
                  <a:solidFill>
                    <a:srgbClr val="59595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How and where we market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770444" y="202216"/>
            <a:ext cx="4482008" cy="939556"/>
            <a:chOff x="0" y="0"/>
            <a:chExt cx="5976010" cy="125274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76112" cy="1252855"/>
            </a:xfrm>
            <a:custGeom>
              <a:avLst/>
              <a:gdLst/>
              <a:ahLst/>
              <a:cxnLst/>
              <a:rect r="r" b="b" t="t" l="l"/>
              <a:pathLst>
                <a:path h="1252855" w="5976112">
                  <a:moveTo>
                    <a:pt x="12954" y="0"/>
                  </a:moveTo>
                  <a:lnTo>
                    <a:pt x="5963158" y="0"/>
                  </a:lnTo>
                  <a:cubicBezTo>
                    <a:pt x="5970270" y="0"/>
                    <a:pt x="5976112" y="5715"/>
                    <a:pt x="5976112" y="12954"/>
                  </a:cubicBezTo>
                  <a:lnTo>
                    <a:pt x="5976112" y="1239901"/>
                  </a:lnTo>
                  <a:cubicBezTo>
                    <a:pt x="5976112" y="1247013"/>
                    <a:pt x="5970397" y="1252855"/>
                    <a:pt x="5963158" y="1252855"/>
                  </a:cubicBezTo>
                  <a:lnTo>
                    <a:pt x="12954" y="1252855"/>
                  </a:lnTo>
                  <a:cubicBezTo>
                    <a:pt x="5715" y="1252728"/>
                    <a:pt x="0" y="1247013"/>
                    <a:pt x="0" y="1239901"/>
                  </a:cubicBezTo>
                  <a:lnTo>
                    <a:pt x="0" y="12954"/>
                  </a:lnTo>
                  <a:cubicBezTo>
                    <a:pt x="0" y="5715"/>
                    <a:pt x="5715" y="0"/>
                    <a:pt x="12954" y="0"/>
                  </a:cubicBezTo>
                  <a:moveTo>
                    <a:pt x="12954" y="25781"/>
                  </a:moveTo>
                  <a:lnTo>
                    <a:pt x="12954" y="12954"/>
                  </a:lnTo>
                  <a:lnTo>
                    <a:pt x="25781" y="12954"/>
                  </a:lnTo>
                  <a:lnTo>
                    <a:pt x="25781" y="1239901"/>
                  </a:lnTo>
                  <a:lnTo>
                    <a:pt x="12954" y="1239901"/>
                  </a:lnTo>
                  <a:lnTo>
                    <a:pt x="12954" y="1226947"/>
                  </a:lnTo>
                  <a:lnTo>
                    <a:pt x="5963158" y="1226947"/>
                  </a:lnTo>
                  <a:lnTo>
                    <a:pt x="5963158" y="1239901"/>
                  </a:lnTo>
                  <a:lnTo>
                    <a:pt x="5950204" y="1239901"/>
                  </a:lnTo>
                  <a:lnTo>
                    <a:pt x="5950204" y="12954"/>
                  </a:lnTo>
                  <a:lnTo>
                    <a:pt x="5963158" y="12954"/>
                  </a:lnTo>
                  <a:lnTo>
                    <a:pt x="5963158" y="25781"/>
                  </a:lnTo>
                  <a:lnTo>
                    <a:pt x="12954" y="25781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976010" cy="129084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194"/>
                </a:lnSpc>
              </a:pPr>
              <a:r>
                <a:rPr lang="en-US" sz="1828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IDEA IN SHORT: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72777" y="1217971"/>
            <a:ext cx="9026433" cy="540896"/>
            <a:chOff x="0" y="0"/>
            <a:chExt cx="12035244" cy="72119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034648" cy="720979"/>
            </a:xfrm>
            <a:custGeom>
              <a:avLst/>
              <a:gdLst/>
              <a:ahLst/>
              <a:cxnLst/>
              <a:rect r="r" b="b" t="t" l="l"/>
              <a:pathLst>
                <a:path h="720979" w="12034648">
                  <a:moveTo>
                    <a:pt x="12954" y="0"/>
                  </a:moveTo>
                  <a:lnTo>
                    <a:pt x="12021693" y="0"/>
                  </a:lnTo>
                  <a:cubicBezTo>
                    <a:pt x="12028805" y="0"/>
                    <a:pt x="12034648" y="5715"/>
                    <a:pt x="12034648" y="12954"/>
                  </a:cubicBezTo>
                  <a:lnTo>
                    <a:pt x="12034648" y="708025"/>
                  </a:lnTo>
                  <a:cubicBezTo>
                    <a:pt x="12034648" y="715137"/>
                    <a:pt x="12028932" y="720979"/>
                    <a:pt x="12021693" y="720979"/>
                  </a:cubicBezTo>
                  <a:lnTo>
                    <a:pt x="12954" y="720979"/>
                  </a:lnTo>
                  <a:cubicBezTo>
                    <a:pt x="5715" y="720979"/>
                    <a:pt x="0" y="715137"/>
                    <a:pt x="0" y="708025"/>
                  </a:cubicBezTo>
                  <a:lnTo>
                    <a:pt x="0" y="12954"/>
                  </a:lnTo>
                  <a:cubicBezTo>
                    <a:pt x="0" y="5715"/>
                    <a:pt x="5715" y="0"/>
                    <a:pt x="12954" y="0"/>
                  </a:cubicBezTo>
                  <a:moveTo>
                    <a:pt x="12954" y="25781"/>
                  </a:moveTo>
                  <a:lnTo>
                    <a:pt x="12954" y="12954"/>
                  </a:lnTo>
                  <a:lnTo>
                    <a:pt x="25781" y="12954"/>
                  </a:lnTo>
                  <a:lnTo>
                    <a:pt x="25781" y="708025"/>
                  </a:lnTo>
                  <a:lnTo>
                    <a:pt x="12954" y="708025"/>
                  </a:lnTo>
                  <a:lnTo>
                    <a:pt x="12954" y="695198"/>
                  </a:lnTo>
                  <a:lnTo>
                    <a:pt x="12021693" y="695198"/>
                  </a:lnTo>
                  <a:lnTo>
                    <a:pt x="12021693" y="708152"/>
                  </a:lnTo>
                  <a:lnTo>
                    <a:pt x="12008739" y="708152"/>
                  </a:lnTo>
                  <a:lnTo>
                    <a:pt x="12008739" y="12954"/>
                  </a:lnTo>
                  <a:lnTo>
                    <a:pt x="12021693" y="12954"/>
                  </a:lnTo>
                  <a:lnTo>
                    <a:pt x="12021693" y="25781"/>
                  </a:lnTo>
                  <a:lnTo>
                    <a:pt x="12954" y="25781"/>
                  </a:lnTo>
                  <a:close/>
                </a:path>
              </a:pathLst>
            </a:custGeom>
            <a:solidFill>
              <a:srgbClr val="7F7F7F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345034" y="1206703"/>
            <a:ext cx="8449608" cy="981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7"/>
              </a:lnSpc>
            </a:pPr>
            <a:r>
              <a:rPr lang="en-US" sz="3047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Hardcore </a:t>
            </a:r>
            <a:r>
              <a:rPr lang="en-US" sz="3047" b="true">
                <a:solidFill>
                  <a:srgbClr val="F13662"/>
                </a:solidFill>
                <a:latin typeface="Cambria Bold"/>
                <a:ea typeface="Cambria Bold"/>
                <a:cs typeface="Cambria Bold"/>
                <a:sym typeface="Cambria Bold"/>
              </a:rPr>
              <a:t>Entrepreneur</a:t>
            </a:r>
            <a:r>
              <a:rPr lang="en-US" sz="3047">
                <a:solidFill>
                  <a:srgbClr val="F13662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047" b="true">
                <a:solidFill>
                  <a:srgbClr val="F13662"/>
                </a:solidFill>
                <a:latin typeface="Cambria Bold"/>
                <a:ea typeface="Cambria Bold"/>
                <a:cs typeface="Cambria Bold"/>
                <a:sym typeface="Cambria Bold"/>
              </a:rPr>
              <a:t>hackathon 6.0</a:t>
            </a:r>
          </a:p>
          <a:p>
            <a:pPr algn="l">
              <a:lnSpc>
                <a:spcPts val="2194"/>
              </a:lnSpc>
            </a:pPr>
            <a:r>
              <a:rPr lang="en-US" sz="1828">
                <a:solidFill>
                  <a:srgbClr val="F13662"/>
                </a:solidFill>
                <a:latin typeface="Calibri (MS)"/>
                <a:ea typeface="Calibri (MS)"/>
                <a:cs typeface="Calibri (MS)"/>
                <a:sym typeface="Calibri (MS)"/>
              </a:rPr>
              <a:t>1.PRODUCT - PROBLEM WE SOLVE	2. OUR TARGET GROUP &amp; </a:t>
            </a:r>
            <a:r>
              <a:rPr lang="en-US" sz="1828" u="sng">
                <a:solidFill>
                  <a:srgbClr val="0000FF"/>
                </a:solidFill>
                <a:latin typeface="Calibri (MS)"/>
                <a:ea typeface="Calibri (MS)"/>
                <a:cs typeface="Calibri (MS)"/>
                <a:sym typeface="Calibri (MS)"/>
                <a:hlinkClick r:id="rId6" tooltip="https://sdgs.un.org/goals"/>
              </a:rPr>
              <a:t>SDGs 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4364726" y="1886502"/>
            <a:ext cx="4841653" cy="309639"/>
          </a:xfrm>
          <a:custGeom>
            <a:avLst/>
            <a:gdLst/>
            <a:ahLst/>
            <a:cxnLst/>
            <a:rect r="r" b="b" t="t" l="l"/>
            <a:pathLst>
              <a:path h="309639" w="4841653">
                <a:moveTo>
                  <a:pt x="0" y="0"/>
                </a:moveTo>
                <a:lnTo>
                  <a:pt x="4841653" y="0"/>
                </a:lnTo>
                <a:lnTo>
                  <a:pt x="4841653" y="309639"/>
                </a:lnTo>
                <a:lnTo>
                  <a:pt x="0" y="3096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875388" y="2323929"/>
            <a:ext cx="6423879" cy="2317356"/>
          </a:xfrm>
          <a:custGeom>
            <a:avLst/>
            <a:gdLst/>
            <a:ahLst/>
            <a:cxnLst/>
            <a:rect r="r" b="b" t="t" l="l"/>
            <a:pathLst>
              <a:path h="2317356" w="6423879">
                <a:moveTo>
                  <a:pt x="0" y="0"/>
                </a:moveTo>
                <a:lnTo>
                  <a:pt x="6423879" y="0"/>
                </a:lnTo>
                <a:lnTo>
                  <a:pt x="6423879" y="2317356"/>
                </a:lnTo>
                <a:lnTo>
                  <a:pt x="0" y="23173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272777" y="4759785"/>
            <a:ext cx="2988488" cy="2391470"/>
            <a:chOff x="0" y="0"/>
            <a:chExt cx="3984650" cy="318862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84752" cy="3188716"/>
            </a:xfrm>
            <a:custGeom>
              <a:avLst/>
              <a:gdLst/>
              <a:ahLst/>
              <a:cxnLst/>
              <a:rect r="r" b="b" t="t" l="l"/>
              <a:pathLst>
                <a:path h="3188716" w="3984752">
                  <a:moveTo>
                    <a:pt x="12954" y="0"/>
                  </a:moveTo>
                  <a:lnTo>
                    <a:pt x="3971798" y="0"/>
                  </a:lnTo>
                  <a:cubicBezTo>
                    <a:pt x="3978910" y="0"/>
                    <a:pt x="3984752" y="5715"/>
                    <a:pt x="3984752" y="12954"/>
                  </a:cubicBezTo>
                  <a:lnTo>
                    <a:pt x="3984752" y="3175762"/>
                  </a:lnTo>
                  <a:cubicBezTo>
                    <a:pt x="3984752" y="3182874"/>
                    <a:pt x="3979037" y="3188716"/>
                    <a:pt x="3971798" y="3188716"/>
                  </a:cubicBezTo>
                  <a:lnTo>
                    <a:pt x="12954" y="3188716"/>
                  </a:lnTo>
                  <a:cubicBezTo>
                    <a:pt x="5842" y="3188716"/>
                    <a:pt x="0" y="3183001"/>
                    <a:pt x="0" y="3175762"/>
                  </a:cubicBezTo>
                  <a:lnTo>
                    <a:pt x="0" y="12954"/>
                  </a:lnTo>
                  <a:cubicBezTo>
                    <a:pt x="0" y="5715"/>
                    <a:pt x="5715" y="0"/>
                    <a:pt x="12954" y="0"/>
                  </a:cubicBezTo>
                  <a:moveTo>
                    <a:pt x="12954" y="25781"/>
                  </a:moveTo>
                  <a:lnTo>
                    <a:pt x="12954" y="12954"/>
                  </a:lnTo>
                  <a:lnTo>
                    <a:pt x="25781" y="12954"/>
                  </a:lnTo>
                  <a:lnTo>
                    <a:pt x="25781" y="3175762"/>
                  </a:lnTo>
                  <a:lnTo>
                    <a:pt x="12954" y="3175762"/>
                  </a:lnTo>
                  <a:lnTo>
                    <a:pt x="12954" y="3162808"/>
                  </a:lnTo>
                  <a:lnTo>
                    <a:pt x="3971798" y="3162808"/>
                  </a:lnTo>
                  <a:lnTo>
                    <a:pt x="3971798" y="3175762"/>
                  </a:lnTo>
                  <a:lnTo>
                    <a:pt x="3958844" y="3175762"/>
                  </a:lnTo>
                  <a:lnTo>
                    <a:pt x="3958844" y="12954"/>
                  </a:lnTo>
                  <a:lnTo>
                    <a:pt x="3971798" y="12954"/>
                  </a:lnTo>
                  <a:lnTo>
                    <a:pt x="3971798" y="25781"/>
                  </a:lnTo>
                  <a:lnTo>
                    <a:pt x="12954" y="25781"/>
                  </a:lnTo>
                  <a:close/>
                </a:path>
              </a:pathLst>
            </a:custGeom>
            <a:solidFill>
              <a:srgbClr val="7F7F7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3984650" cy="322672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828"/>
                </a:lnSpc>
              </a:pPr>
              <a:r>
                <a:rPr lang="en-US" sz="1523" spc="-7">
                  <a:solidFill>
                    <a:srgbClr val="59595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5 elements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4784303" y="510015"/>
            <a:ext cx="4499123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2"/>
              </a:lnSpc>
              <a:spcBef>
                <a:spcPct val="0"/>
              </a:spcBef>
            </a:pPr>
            <a:r>
              <a:rPr lang="en-US" b="true" sz="1377" spc="-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Emergency communication system using app + mesh network + drones. Works without internet and delivers aid in crisis situations.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39969" y="2295354"/>
            <a:ext cx="3721614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9"/>
              </a:lnSpc>
            </a:pPr>
            <a:r>
              <a:rPr lang="en-US" b="true" sz="1391" spc="-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Problem:</a:t>
            </a:r>
          </a:p>
          <a:p>
            <a:pPr algn="ctr" marL="300450" indent="-150225" lvl="1">
              <a:lnSpc>
                <a:spcPts val="1669"/>
              </a:lnSpc>
              <a:buFont typeface="Arial"/>
              <a:buChar char="•"/>
            </a:pPr>
            <a:r>
              <a:rPr lang="en-US" b="true" sz="1391" spc="-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networks fail in crises</a:t>
            </a:r>
          </a:p>
          <a:p>
            <a:pPr algn="ctr" marL="300450" indent="-150225" lvl="1">
              <a:lnSpc>
                <a:spcPts val="1669"/>
              </a:lnSpc>
              <a:buFont typeface="Arial"/>
              <a:buChar char="•"/>
            </a:pPr>
            <a:r>
              <a:rPr lang="en-US" b="true" sz="1391" spc="-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 coordination</a:t>
            </a:r>
          </a:p>
          <a:p>
            <a:pPr algn="ctr" marL="300450" indent="-150225" lvl="1">
              <a:lnSpc>
                <a:spcPts val="1669"/>
              </a:lnSpc>
              <a:buFont typeface="Arial"/>
              <a:buChar char="•"/>
            </a:pPr>
            <a:r>
              <a:rPr lang="en-US" b="true" sz="1391" spc="-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people can’t ask for help</a:t>
            </a:r>
          </a:p>
          <a:p>
            <a:pPr algn="ctr">
              <a:lnSpc>
                <a:spcPts val="1669"/>
              </a:lnSpc>
            </a:pPr>
            <a:r>
              <a:rPr lang="en-US" b="true" sz="1391" spc="-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Solution:</a:t>
            </a:r>
          </a:p>
          <a:p>
            <a:pPr algn="ctr" marL="300450" indent="-150225" lvl="1">
              <a:lnSpc>
                <a:spcPts val="1669"/>
              </a:lnSpc>
              <a:buFont typeface="Arial"/>
              <a:buChar char="•"/>
            </a:pPr>
            <a:r>
              <a:rPr lang="en-US" b="true" sz="1391" spc="-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communication without internet</a:t>
            </a:r>
          </a:p>
          <a:p>
            <a:pPr algn="ctr" marL="300450" indent="-150225" lvl="1">
              <a:lnSpc>
                <a:spcPts val="1669"/>
              </a:lnSpc>
              <a:buFont typeface="Arial"/>
              <a:buChar char="•"/>
            </a:pPr>
            <a:r>
              <a:rPr lang="en-US" b="true" sz="1391" spc="-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mesh network</a:t>
            </a:r>
          </a:p>
          <a:p>
            <a:pPr algn="ctr" marL="300450" indent="-150225" lvl="1">
              <a:lnSpc>
                <a:spcPts val="1669"/>
              </a:lnSpc>
              <a:buFont typeface="Arial"/>
              <a:buChar char="•"/>
            </a:pPr>
            <a:r>
              <a:rPr lang="en-US" b="true" sz="1391" spc="-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Relay drones (coverage)</a:t>
            </a:r>
          </a:p>
          <a:p>
            <a:pPr algn="ctr" marL="300450" indent="-150225" lvl="1">
              <a:lnSpc>
                <a:spcPts val="1669"/>
              </a:lnSpc>
              <a:buFont typeface="Arial"/>
              <a:buChar char="•"/>
            </a:pPr>
            <a:r>
              <a:rPr lang="en-US" b="true" sz="1391" spc="-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Ally drones (delivery)</a:t>
            </a:r>
          </a:p>
          <a:p>
            <a:pPr algn="ctr">
              <a:lnSpc>
                <a:spcPts val="2029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6063860" y="2300392"/>
            <a:ext cx="1895176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9"/>
              </a:lnSpc>
              <a:spcBef>
                <a:spcPct val="0"/>
              </a:spcBef>
            </a:pPr>
            <a:r>
              <a:rPr lang="en-US" b="true" sz="1741" spc="-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Target:</a:t>
            </a:r>
          </a:p>
          <a:p>
            <a:pPr algn="ctr">
              <a:lnSpc>
                <a:spcPts val="2089"/>
              </a:lnSpc>
              <a:spcBef>
                <a:spcPct val="0"/>
              </a:spcBef>
            </a:pPr>
            <a:r>
              <a:rPr lang="en-US" b="true" sz="1741" spc="-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governments</a:t>
            </a:r>
          </a:p>
          <a:p>
            <a:pPr algn="ctr">
              <a:lnSpc>
                <a:spcPts val="2089"/>
              </a:lnSpc>
              <a:spcBef>
                <a:spcPct val="0"/>
              </a:spcBef>
            </a:pPr>
            <a:r>
              <a:rPr lang="en-US" b="true" sz="1741" spc="-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NGOs</a:t>
            </a:r>
          </a:p>
          <a:p>
            <a:pPr algn="ctr">
              <a:lnSpc>
                <a:spcPts val="2089"/>
              </a:lnSpc>
              <a:spcBef>
                <a:spcPct val="0"/>
              </a:spcBef>
            </a:pPr>
            <a:r>
              <a:rPr lang="en-US" b="true" sz="1741" spc="-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rescuers</a:t>
            </a:r>
          </a:p>
          <a:p>
            <a:pPr algn="ctr">
              <a:lnSpc>
                <a:spcPts val="2089"/>
              </a:lnSpc>
              <a:spcBef>
                <a:spcPct val="0"/>
              </a:spcBef>
            </a:pPr>
            <a:r>
              <a:rPr lang="en-US" b="true" sz="1741" spc="-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civilians</a:t>
            </a:r>
          </a:p>
          <a:p>
            <a:pPr algn="ctr">
              <a:lnSpc>
                <a:spcPts val="2089"/>
              </a:lnSpc>
              <a:spcBef>
                <a:spcPct val="0"/>
              </a:spcBef>
            </a:pPr>
            <a:r>
              <a:rPr lang="en-US" b="true" sz="1741" spc="-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SDGs:</a:t>
            </a:r>
          </a:p>
          <a:p>
            <a:pPr algn="ctr">
              <a:lnSpc>
                <a:spcPts val="2089"/>
              </a:lnSpc>
              <a:spcBef>
                <a:spcPct val="0"/>
              </a:spcBef>
            </a:pPr>
            <a:r>
              <a:rPr lang="en-US" b="true" sz="1741" spc="-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3, 9, 11, 13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42897" y="5079135"/>
            <a:ext cx="2791707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4"/>
              </a:lnSpc>
              <a:spcBef>
                <a:spcPct val="0"/>
              </a:spcBef>
            </a:pPr>
            <a:r>
              <a:rPr lang="en-US" b="true" sz="1428" spc="-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Specific: Emergency system (app + drones)</a:t>
            </a:r>
          </a:p>
          <a:p>
            <a:pPr algn="ctr">
              <a:lnSpc>
                <a:spcPts val="1714"/>
              </a:lnSpc>
              <a:spcBef>
                <a:spcPct val="0"/>
              </a:spcBef>
            </a:pPr>
            <a:r>
              <a:rPr lang="en-US" b="true" sz="1428" spc="-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Measurable: 1000+ users, 10+ drones</a:t>
            </a:r>
          </a:p>
          <a:p>
            <a:pPr algn="ctr">
              <a:lnSpc>
                <a:spcPts val="1714"/>
              </a:lnSpc>
              <a:spcBef>
                <a:spcPct val="0"/>
              </a:spcBef>
            </a:pPr>
            <a:r>
              <a:rPr lang="en-US" b="true" sz="1428" spc="-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Achievable: Based on existing tech</a:t>
            </a:r>
          </a:p>
          <a:p>
            <a:pPr algn="ctr">
              <a:lnSpc>
                <a:spcPts val="1714"/>
              </a:lnSpc>
              <a:spcBef>
                <a:spcPct val="0"/>
              </a:spcBef>
            </a:pPr>
            <a:r>
              <a:rPr lang="en-US" b="true" sz="1428" spc="-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Relevant: Solves crisis communication</a:t>
            </a:r>
          </a:p>
          <a:p>
            <a:pPr algn="ctr">
              <a:lnSpc>
                <a:spcPts val="1714"/>
              </a:lnSpc>
              <a:spcBef>
                <a:spcPct val="0"/>
              </a:spcBef>
            </a:pPr>
            <a:r>
              <a:rPr lang="en-US" b="true" sz="1428" spc="-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Time-bound: MVP 6 months, scale 3 years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458384" y="5270473"/>
            <a:ext cx="2624121" cy="1228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872" indent="-210936" lvl="1">
              <a:lnSpc>
                <a:spcPts val="2344"/>
              </a:lnSpc>
              <a:buFont typeface="Arial"/>
              <a:buChar char="•"/>
            </a:pPr>
            <a:r>
              <a:rPr lang="en-US" b="true" sz="1954" spc="-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government contracts</a:t>
            </a:r>
          </a:p>
          <a:p>
            <a:pPr algn="l" marL="421872" indent="-210936" lvl="1">
              <a:lnSpc>
                <a:spcPts val="2344"/>
              </a:lnSpc>
              <a:buFont typeface="Arial"/>
              <a:buChar char="•"/>
            </a:pPr>
            <a:r>
              <a:rPr lang="en-US" b="true" sz="1954" spc="-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NGO partnerships</a:t>
            </a:r>
          </a:p>
          <a:p>
            <a:pPr algn="l" marL="421872" indent="-210936" lvl="1">
              <a:lnSpc>
                <a:spcPts val="2344"/>
              </a:lnSpc>
              <a:buFont typeface="Arial"/>
              <a:buChar char="•"/>
            </a:pPr>
            <a:r>
              <a:rPr lang="en-US" b="true" sz="1954" spc="-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drone sales</a:t>
            </a:r>
          </a:p>
          <a:p>
            <a:pPr algn="l" marL="421872" indent="-210936" lvl="1">
              <a:lnSpc>
                <a:spcPts val="2344"/>
              </a:lnSpc>
              <a:buFont typeface="Arial"/>
              <a:buChar char="•"/>
            </a:pPr>
            <a:r>
              <a:rPr lang="en-US" b="true" sz="1954" spc="-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software subscription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499317" y="5163884"/>
            <a:ext cx="2437181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9"/>
              </a:lnSpc>
              <a:spcBef>
                <a:spcPct val="0"/>
              </a:spcBef>
            </a:pPr>
            <a:r>
              <a:rPr lang="en-US" b="true" sz="1741" spc="-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How:</a:t>
            </a:r>
          </a:p>
          <a:p>
            <a:pPr algn="ctr">
              <a:lnSpc>
                <a:spcPts val="2089"/>
              </a:lnSpc>
              <a:spcBef>
                <a:spcPct val="0"/>
              </a:spcBef>
            </a:pPr>
            <a:r>
              <a:rPr lang="en-US" b="true" sz="1741" spc="-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hackathons</a:t>
            </a:r>
          </a:p>
          <a:p>
            <a:pPr algn="ctr">
              <a:lnSpc>
                <a:spcPts val="2089"/>
              </a:lnSpc>
              <a:spcBef>
                <a:spcPct val="0"/>
              </a:spcBef>
            </a:pPr>
            <a:r>
              <a:rPr lang="en-US" b="true" sz="1741" spc="-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conferences</a:t>
            </a:r>
          </a:p>
          <a:p>
            <a:pPr algn="ctr">
              <a:lnSpc>
                <a:spcPts val="2089"/>
              </a:lnSpc>
              <a:spcBef>
                <a:spcPct val="0"/>
              </a:spcBef>
            </a:pPr>
            <a:r>
              <a:rPr lang="en-US" b="true" sz="1741" spc="-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NGO partnerships</a:t>
            </a:r>
          </a:p>
          <a:p>
            <a:pPr algn="ctr">
              <a:lnSpc>
                <a:spcPts val="2089"/>
              </a:lnSpc>
              <a:spcBef>
                <a:spcPct val="0"/>
              </a:spcBef>
            </a:pPr>
            <a:r>
              <a:rPr lang="en-US" b="true" sz="1741" spc="-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Where:</a:t>
            </a:r>
          </a:p>
          <a:p>
            <a:pPr algn="ctr">
              <a:lnSpc>
                <a:spcPts val="2089"/>
              </a:lnSpc>
              <a:spcBef>
                <a:spcPct val="0"/>
              </a:spcBef>
            </a:pPr>
            <a:r>
              <a:rPr lang="en-US" b="true" sz="1741" spc="-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Europe</a:t>
            </a:r>
          </a:p>
          <a:p>
            <a:pPr algn="ctr">
              <a:lnSpc>
                <a:spcPts val="2089"/>
              </a:lnSpc>
              <a:spcBef>
                <a:spcPct val="0"/>
              </a:spcBef>
            </a:pPr>
            <a:r>
              <a:rPr lang="en-US" b="true" sz="1741" spc="-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global crisis zones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DAHIVXF_JLM</dc:identifier>
  <dcterms:modified xsi:type="dcterms:W3CDTF">2011-08-01T06:04:30Z</dcterms:modified>
  <cp:revision>1</cp:revision>
  <dc:title>Business-plan_FLYCOM.pptx</dc:title>
</cp:coreProperties>
</file>